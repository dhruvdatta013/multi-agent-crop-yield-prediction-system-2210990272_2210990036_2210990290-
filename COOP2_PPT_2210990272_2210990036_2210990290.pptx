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4332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D0EB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572-4AEB-B957-6F34DF59B8AF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572-4AEB-B957-6F34DF59B8AF}"/>
              </c:ext>
            </c:extLst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9572-4AEB-B957-6F34DF59B8AF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9572-4AEB-B957-6F34DF59B8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5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RF (No Agent)</c:v>
                </c:pt>
                <c:pt idx="2">
                  <c:v>Agent-Based RF</c:v>
                </c:pt>
                <c:pt idx="3">
                  <c:v>Agent-Based 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21.3</c:v>
                </c:pt>
                <c:pt idx="1">
                  <c:v>84.8</c:v>
                </c:pt>
                <c:pt idx="2">
                  <c:v>84.6</c:v>
                </c:pt>
                <c:pt idx="3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572-4AEB-B957-6F34DF59B8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4332"/>
                </a:solidFill>
                <a:latin typeface="Arial"/>
              </a:rPr>
              <a:t>Test Set Advisory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Advisory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68-4ED4-84E5-1F1DFF45FA6C}"/>
              </c:ext>
            </c:extLst>
          </c:dPt>
          <c:dPt>
            <c:idx val="1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68-4ED4-84E5-1F1DFF45FA6C}"/>
              </c:ext>
            </c:extLst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68-4ED4-84E5-1F1DFF45FA6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68-4ED4-84E5-1F1DFF45FA6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68-4ED4-84E5-1F1DFF45FA6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68-4ED4-84E5-1F1DFF45FA6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(&gt;30,000 hg/ha)</c:v>
                </c:pt>
                <c:pt idx="1">
                  <c:v>MEDIUM (15,000–29,999)</c:v>
                </c:pt>
                <c:pt idx="2">
                  <c:v>LOW (&lt;15,000 hg/ha)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58.3</c:v>
                </c:pt>
                <c:pt idx="1">
                  <c:v>26.4</c:v>
                </c:pt>
                <c:pt idx="2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68-4ED4-84E5-1F1DFF45F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Intelligent Multi-Agent Framework for Enhanced Crop Yield Prediction and Agricultural Decision Support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</a:t>
            </a:r>
            <a:r>
              <a:rPr lang="en-US" sz="1200" b="1" dirty="0"/>
              <a:t>Dhruv Datta                                                                        Abhinav Bhar                                                         </a:t>
            </a:r>
            <a:r>
              <a:rPr lang="en-US" sz="1200" b="1" dirty="0" err="1"/>
              <a:t>Divanshu</a:t>
            </a:r>
            <a:r>
              <a:rPr lang="en-US" sz="1200" b="1" dirty="0"/>
              <a:t> Kaushik</a:t>
            </a:r>
            <a:endParaRPr lang="en-US" sz="1200" dirty="0"/>
          </a:p>
          <a:p>
            <a:r>
              <a:rPr lang="en-US" sz="1200" dirty="0"/>
              <a:t>  2210990272                                                                          2210990036 		                                    2210990290</a:t>
            </a: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  <a:endParaRPr lang="en-US" sz="1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 (Mentor)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36C292A-AA2F-946C-F2A2-1E9684FEDA8D}"/>
              </a:ext>
            </a:extLst>
          </p:cNvPr>
          <p:cNvSpPr/>
          <p:nvPr/>
        </p:nvSpPr>
        <p:spPr>
          <a:xfrm>
            <a:off x="274320" y="10058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B9BE779-D91C-31B4-E497-F03B47C22FD8}"/>
              </a:ext>
            </a:extLst>
          </p:cNvPr>
          <p:cNvSpPr/>
          <p:nvPr/>
        </p:nvSpPr>
        <p:spPr>
          <a:xfrm>
            <a:off x="36576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Challenge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15F0BF1-FB5D-6A66-56BB-6026448906C7}"/>
              </a:ext>
            </a:extLst>
          </p:cNvPr>
          <p:cNvSpPr/>
          <p:nvPr/>
        </p:nvSpPr>
        <p:spPr>
          <a:xfrm>
            <a:off x="274320" y="1389888"/>
            <a:ext cx="393192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1906458-91C6-1DD8-8606-9778BC8E87AF}"/>
              </a:ext>
            </a:extLst>
          </p:cNvPr>
          <p:cNvSpPr/>
          <p:nvPr/>
        </p:nvSpPr>
        <p:spPr>
          <a:xfrm>
            <a:off x="41148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🌍  Global population projected to reach 9.7 billion by 2050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🌾  Agricultural productivity must increase significantly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📉  Conventional estimation methods lack scalability across agro-climatic regions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Single-model ML solutions ignore the full pipeline complexity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B3189D8-CCC5-CCB4-47AF-75690CDD2ABD}"/>
              </a:ext>
            </a:extLst>
          </p:cNvPr>
          <p:cNvSpPr/>
          <p:nvPr/>
        </p:nvSpPr>
        <p:spPr>
          <a:xfrm>
            <a:off x="4572000" y="1005840"/>
            <a:ext cx="4297680" cy="3474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AA6633C-A9B5-82A7-3777-1C3683B56F5F}"/>
              </a:ext>
            </a:extLst>
          </p:cNvPr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E4C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Our Solution: Multi-Agent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5651A6B5-B734-2C7A-BE06-EB38159A5975}"/>
              </a:ext>
            </a:extLst>
          </p:cNvPr>
          <p:cNvSpPr/>
          <p:nvPr/>
        </p:nvSpPr>
        <p:spPr>
          <a:xfrm>
            <a:off x="4572000" y="1389888"/>
            <a:ext cx="429768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19954C34-7F8C-76C9-6E69-C3171F7817A5}"/>
              </a:ext>
            </a:extLst>
          </p:cNvPr>
          <p:cNvSpPr/>
          <p:nvPr/>
        </p:nvSpPr>
        <p:spPr>
          <a:xfrm>
            <a:off x="4709160" y="150876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5 specialized cooperative agents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Shared Knowledge Base (blackboard architecture)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Adaptive Feedback &amp; retraining loop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25,932 FAO records | 101 countries | 10 crops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Actionable agricultural advisory outputs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440E5E1E-46DF-342B-C719-D4045EE3F061}"/>
              </a:ext>
            </a:extLst>
          </p:cNvPr>
          <p:cNvSpPr/>
          <p:nvPr/>
        </p:nvSpPr>
        <p:spPr>
          <a:xfrm>
            <a:off x="365760" y="66751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4339C-62EF-7EE1-3DD3-1F605551D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0432"/>
            <a:ext cx="5486040" cy="411120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AA6F926-7AF4-961A-E1FA-924C97DEF1B6}"/>
              </a:ext>
            </a:extLst>
          </p:cNvPr>
          <p:cNvSpPr/>
          <p:nvPr/>
        </p:nvSpPr>
        <p:spPr>
          <a:xfrm>
            <a:off x="8686800" y="66751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5F5B7ADB-A183-E3D4-98E8-52302F8F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43798"/>
              </p:ext>
            </p:extLst>
          </p:nvPr>
        </p:nvGraphicFramePr>
        <p:xfrm>
          <a:off x="274320" y="1627632"/>
          <a:ext cx="859536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Addressed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Gandhi et al. 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– 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Pantazi et al. 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/ ANN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Wheat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Klompenburg [8]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(review avg.)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MAS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Nevavuori et al. [9]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 Wheat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FAO 101 countries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MAS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>
            <a:extLst>
              <a:ext uri="{FF2B5EF4-FFF2-40B4-BE49-F238E27FC236}">
                <a16:creationId xmlns:a16="http://schemas.microsoft.com/office/drawing/2014/main" id="{F5A57E3B-440B-1B94-603C-CD67A4C44D88}"/>
              </a:ext>
            </a:extLst>
          </p:cNvPr>
          <p:cNvSpPr/>
          <p:nvPr/>
        </p:nvSpPr>
        <p:spPr>
          <a:xfrm>
            <a:off x="274320" y="1613664"/>
            <a:ext cx="859536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EE23808-4BB3-D582-1B0E-95D5333FBEA6}"/>
              </a:ext>
            </a:extLst>
          </p:cNvPr>
          <p:cNvSpPr/>
          <p:nvPr/>
        </p:nvSpPr>
        <p:spPr>
          <a:xfrm>
            <a:off x="320040" y="162763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		Method		Dataset		R²	Gap Addressed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38100CC1-9DEA-AD01-8D0F-3B6AEDC471CA}"/>
              </a:ext>
            </a:extLst>
          </p:cNvPr>
          <p:cNvSpPr/>
          <p:nvPr/>
        </p:nvSpPr>
        <p:spPr>
          <a:xfrm>
            <a:off x="274320" y="4471416"/>
            <a:ext cx="859536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316EB90-E22F-D394-DF1E-116A91C611E1}"/>
              </a:ext>
            </a:extLst>
          </p:cNvPr>
          <p:cNvSpPr/>
          <p:nvPr/>
        </p:nvSpPr>
        <p:spPr>
          <a:xfrm>
            <a:off x="320040" y="4471416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Framework  |  Agent-Based RF  |  FAO 101 countries  |  R² = 0.986  |  Full MAS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D443D-2F2F-DF19-7A64-B191CB7A5668}"/>
              </a:ext>
            </a:extLst>
          </p:cNvPr>
          <p:cNvSpPr txBox="1"/>
          <p:nvPr/>
        </p:nvSpPr>
        <p:spPr>
          <a:xfrm>
            <a:off x="0" y="231386"/>
            <a:ext cx="615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Literature Review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1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857856A9-2903-B597-C99A-3F45172BE862}"/>
              </a:ext>
            </a:extLst>
          </p:cNvPr>
          <p:cNvSpPr/>
          <p:nvPr/>
        </p:nvSpPr>
        <p:spPr>
          <a:xfrm>
            <a:off x="283464" y="1563624"/>
            <a:ext cx="2011680" cy="1737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0FFB1A8-6D66-554F-F110-88E371A093C8}"/>
              </a:ext>
            </a:extLst>
          </p:cNvPr>
          <p:cNvSpPr/>
          <p:nvPr/>
        </p:nvSpPr>
        <p:spPr>
          <a:xfrm>
            <a:off x="283464" y="165506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2B7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28,242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FBD1509-19C4-C26A-7176-1A53719DFFB2}"/>
              </a:ext>
            </a:extLst>
          </p:cNvPr>
          <p:cNvSpPr/>
          <p:nvPr/>
        </p:nvSpPr>
        <p:spPr>
          <a:xfrm>
            <a:off x="283464" y="2295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Records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4C89A65-047C-5FCB-9CF4-70BB5A09F6C3}"/>
              </a:ext>
            </a:extLst>
          </p:cNvPr>
          <p:cNvSpPr/>
          <p:nvPr/>
        </p:nvSpPr>
        <p:spPr>
          <a:xfrm>
            <a:off x="283464" y="2633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2,310 duplicates removed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44BCAB5D-EBC2-F487-079D-E81A3B6BE51D}"/>
              </a:ext>
            </a:extLst>
          </p:cNvPr>
          <p:cNvSpPr/>
          <p:nvPr/>
        </p:nvSpPr>
        <p:spPr>
          <a:xfrm>
            <a:off x="2478024" y="1563624"/>
            <a:ext cx="2011680" cy="1737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8D9B177-0014-3F6D-8A05-8537D12B7E2D}"/>
              </a:ext>
            </a:extLst>
          </p:cNvPr>
          <p:cNvSpPr/>
          <p:nvPr/>
        </p:nvSpPr>
        <p:spPr>
          <a:xfrm>
            <a:off x="2478024" y="165506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2B7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25,932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D48AB04-4273-785B-AEB6-6F8211ACB810}"/>
              </a:ext>
            </a:extLst>
          </p:cNvPr>
          <p:cNvSpPr/>
          <p:nvPr/>
        </p:nvSpPr>
        <p:spPr>
          <a:xfrm>
            <a:off x="2478024" y="2295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Records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7C68CFF-4C2A-07DC-A703-EC533A704CB8}"/>
              </a:ext>
            </a:extLst>
          </p:cNvPr>
          <p:cNvSpPr/>
          <p:nvPr/>
        </p:nvSpPr>
        <p:spPr>
          <a:xfrm>
            <a:off x="2478024" y="2633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Zero missing values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642778DB-0636-7BB5-33DD-4CE54A38F7AE}"/>
              </a:ext>
            </a:extLst>
          </p:cNvPr>
          <p:cNvSpPr/>
          <p:nvPr/>
        </p:nvSpPr>
        <p:spPr>
          <a:xfrm>
            <a:off x="4672584" y="1563624"/>
            <a:ext cx="2011680" cy="1737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A2637131-0E3B-2559-6E78-B691EA204839}"/>
              </a:ext>
            </a:extLst>
          </p:cNvPr>
          <p:cNvSpPr/>
          <p:nvPr/>
        </p:nvSpPr>
        <p:spPr>
          <a:xfrm>
            <a:off x="4672584" y="165506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2B7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101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B97E9A4A-8707-09B2-606D-C66E17F9188C}"/>
              </a:ext>
            </a:extLst>
          </p:cNvPr>
          <p:cNvSpPr/>
          <p:nvPr/>
        </p:nvSpPr>
        <p:spPr>
          <a:xfrm>
            <a:off x="4672584" y="2295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7945F1F-5A69-07BF-E7DB-1F5D004F1F4C}"/>
              </a:ext>
            </a:extLst>
          </p:cNvPr>
          <p:cNvSpPr/>
          <p:nvPr/>
        </p:nvSpPr>
        <p:spPr>
          <a:xfrm>
            <a:off x="4672584" y="2633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Diverse agro-climatic zones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4B6004B8-BB96-2145-637F-D86814698B10}"/>
              </a:ext>
            </a:extLst>
          </p:cNvPr>
          <p:cNvSpPr/>
          <p:nvPr/>
        </p:nvSpPr>
        <p:spPr>
          <a:xfrm>
            <a:off x="6867144" y="1563624"/>
            <a:ext cx="2011680" cy="1737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A89CB6C-2234-421B-593D-D7BBFCD8BC2D}"/>
              </a:ext>
            </a:extLst>
          </p:cNvPr>
          <p:cNvSpPr/>
          <p:nvPr/>
        </p:nvSpPr>
        <p:spPr>
          <a:xfrm>
            <a:off x="6867144" y="165506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2B788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CC1EBF7C-D7A0-C905-EBCA-AEC29E47BCD8}"/>
              </a:ext>
            </a:extLst>
          </p:cNvPr>
          <p:cNvSpPr/>
          <p:nvPr/>
        </p:nvSpPr>
        <p:spPr>
          <a:xfrm>
            <a:off x="6867144" y="2295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Crop Types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BA8A2432-DF91-0E72-D281-9DF4EF507F52}"/>
              </a:ext>
            </a:extLst>
          </p:cNvPr>
          <p:cNvSpPr/>
          <p:nvPr/>
        </p:nvSpPr>
        <p:spPr>
          <a:xfrm>
            <a:off x="6867144" y="2633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1990–2013 dataset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2AF19FAB-7C2B-192C-D957-5FA6846B63E1}"/>
              </a:ext>
            </a:extLst>
          </p:cNvPr>
          <p:cNvSpPr/>
          <p:nvPr/>
        </p:nvSpPr>
        <p:spPr>
          <a:xfrm>
            <a:off x="283464" y="3483864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C79F880-59AB-24BF-F9EB-1B63468CE7C9}"/>
              </a:ext>
            </a:extLst>
          </p:cNvPr>
          <p:cNvSpPr/>
          <p:nvPr/>
        </p:nvSpPr>
        <p:spPr>
          <a:xfrm>
            <a:off x="374904" y="35295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 Sources (4 Files)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47A7A9EC-356E-2C8C-84B2-5CDAF5EA1303}"/>
              </a:ext>
            </a:extLst>
          </p:cNvPr>
          <p:cNvSpPr/>
          <p:nvPr/>
        </p:nvSpPr>
        <p:spPr>
          <a:xfrm>
            <a:off x="374904" y="39136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Crop yield records (hg/ha)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Average annual rainfall (mm)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Pesticide usage (tonnes, active ingredient)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Mean annual temperature (°C)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FB46F633-4EC5-5C6E-944F-292522DABD06}"/>
              </a:ext>
            </a:extLst>
          </p:cNvPr>
          <p:cNvSpPr/>
          <p:nvPr/>
        </p:nvSpPr>
        <p:spPr>
          <a:xfrm>
            <a:off x="4672584" y="3483864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26664318-6E8D-7C60-9BB6-4CC233894AFA}"/>
              </a:ext>
            </a:extLst>
          </p:cNvPr>
          <p:cNvSpPr/>
          <p:nvPr/>
        </p:nvSpPr>
        <p:spPr>
          <a:xfrm>
            <a:off x="4764024" y="35295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Feature Engineering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3ABE153A-C8D8-2824-825F-3C9D493AFC6E}"/>
              </a:ext>
            </a:extLst>
          </p:cNvPr>
          <p:cNvSpPr/>
          <p:nvPr/>
        </p:nvSpPr>
        <p:spPr>
          <a:xfrm>
            <a:off x="4764024" y="391363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One-hot encoding → 115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Variance-based filtering → 114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Target: yield spans 500 to 500,000+ hg/ha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70:30 stratified train–test split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E84F5A9C-ADF0-0529-59CD-05940BAF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Dataset Description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96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9E90-F326-C3BE-3760-F3958E12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Proposed Multi-Agent Framework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F717B69E-CA98-7080-DC05-C777F2B57F11}"/>
              </a:ext>
            </a:extLst>
          </p:cNvPr>
          <p:cNvSpPr/>
          <p:nvPr/>
        </p:nvSpPr>
        <p:spPr>
          <a:xfrm>
            <a:off x="246888" y="1591056"/>
            <a:ext cx="50292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A7CC365-9C5A-99CC-D34A-436A180DD3B4}"/>
              </a:ext>
            </a:extLst>
          </p:cNvPr>
          <p:cNvSpPr/>
          <p:nvPr/>
        </p:nvSpPr>
        <p:spPr>
          <a:xfrm>
            <a:off x="246888" y="159105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FB92841-6554-C3A7-DFD6-E04A085802E4}"/>
              </a:ext>
            </a:extLst>
          </p:cNvPr>
          <p:cNvSpPr/>
          <p:nvPr/>
        </p:nvSpPr>
        <p:spPr>
          <a:xfrm>
            <a:off x="822960" y="159105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D66F640-E9A2-D9AE-82D2-EFA2DDB2D5D8}"/>
              </a:ext>
            </a:extLst>
          </p:cNvPr>
          <p:cNvSpPr/>
          <p:nvPr/>
        </p:nvSpPr>
        <p:spPr>
          <a:xfrm>
            <a:off x="886968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 Agent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7199E85-A1E0-DBCA-0A89-DE6999F2640E}"/>
              </a:ext>
            </a:extLst>
          </p:cNvPr>
          <p:cNvSpPr/>
          <p:nvPr/>
        </p:nvSpPr>
        <p:spPr>
          <a:xfrm>
            <a:off x="886968" y="18928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Load, validate &amp; deduplicate raw CSV → 25,932 clean records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BD1754A3-B62C-2932-A2B9-4B1F82C3A1C7}"/>
              </a:ext>
            </a:extLst>
          </p:cNvPr>
          <p:cNvSpPr/>
          <p:nvPr/>
        </p:nvSpPr>
        <p:spPr>
          <a:xfrm>
            <a:off x="438912" y="2249424"/>
            <a:ext cx="128016" cy="1554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6B3FE44D-6EF2-7840-C3AD-E3BBFC8C6C21}"/>
              </a:ext>
            </a:extLst>
          </p:cNvPr>
          <p:cNvSpPr/>
          <p:nvPr/>
        </p:nvSpPr>
        <p:spPr>
          <a:xfrm>
            <a:off x="246888" y="2404872"/>
            <a:ext cx="50292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A8ADFDB-03E3-CBD8-97D5-491FD3F12D7A}"/>
              </a:ext>
            </a:extLst>
          </p:cNvPr>
          <p:cNvSpPr/>
          <p:nvPr/>
        </p:nvSpPr>
        <p:spPr>
          <a:xfrm>
            <a:off x="246888" y="24048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70AFFBE-10E5-80B9-4265-E3749775F88B}"/>
              </a:ext>
            </a:extLst>
          </p:cNvPr>
          <p:cNvSpPr/>
          <p:nvPr/>
        </p:nvSpPr>
        <p:spPr>
          <a:xfrm>
            <a:off x="822960" y="240487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DDD2178-E582-23CC-B563-773498B2F0A2}"/>
              </a:ext>
            </a:extLst>
          </p:cNvPr>
          <p:cNvSpPr/>
          <p:nvPr/>
        </p:nvSpPr>
        <p:spPr>
          <a:xfrm>
            <a:off x="886968" y="243230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Agent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39806F3-33D2-089B-D99E-8A44BE6A6662}"/>
              </a:ext>
            </a:extLst>
          </p:cNvPr>
          <p:cNvSpPr/>
          <p:nvPr/>
        </p:nvSpPr>
        <p:spPr>
          <a:xfrm>
            <a:off x="886968" y="270662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Encode, normalise, variance-filter → 114 features, 70:30 split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A95863E-61FF-31CD-BBB8-A0AF87247A28}"/>
              </a:ext>
            </a:extLst>
          </p:cNvPr>
          <p:cNvSpPr/>
          <p:nvPr/>
        </p:nvSpPr>
        <p:spPr>
          <a:xfrm>
            <a:off x="438912" y="3063240"/>
            <a:ext cx="128016" cy="1554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1743F348-440B-87BF-50B2-84F0AB1DBA79}"/>
              </a:ext>
            </a:extLst>
          </p:cNvPr>
          <p:cNvSpPr/>
          <p:nvPr/>
        </p:nvSpPr>
        <p:spPr>
          <a:xfrm>
            <a:off x="246888" y="3218688"/>
            <a:ext cx="50292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E18D74DB-D6CA-CB23-38CF-E47E2622762F}"/>
              </a:ext>
            </a:extLst>
          </p:cNvPr>
          <p:cNvSpPr/>
          <p:nvPr/>
        </p:nvSpPr>
        <p:spPr>
          <a:xfrm>
            <a:off x="246888" y="32186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7A6B1E77-590F-E97B-45DA-290F951AC19F}"/>
              </a:ext>
            </a:extLst>
          </p:cNvPr>
          <p:cNvSpPr/>
          <p:nvPr/>
        </p:nvSpPr>
        <p:spPr>
          <a:xfrm>
            <a:off x="822960" y="321868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95BCDBF5-01D5-B3C9-48CF-9BCB704047E4}"/>
              </a:ext>
            </a:extLst>
          </p:cNvPr>
          <p:cNvSpPr/>
          <p:nvPr/>
        </p:nvSpPr>
        <p:spPr>
          <a:xfrm>
            <a:off x="886968" y="32461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Agent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DD264E8-381E-6FAF-03FD-C73B4C7A6AF8}"/>
              </a:ext>
            </a:extLst>
          </p:cNvPr>
          <p:cNvSpPr/>
          <p:nvPr/>
        </p:nvSpPr>
        <p:spPr>
          <a:xfrm>
            <a:off x="886968" y="3520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Linear Reg, RF (100 &amp; 200 est.), LinearSVR → select best by RMSE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38105CA-D20B-3BD7-EFF0-A127958CB8DC}"/>
              </a:ext>
            </a:extLst>
          </p:cNvPr>
          <p:cNvSpPr/>
          <p:nvPr/>
        </p:nvSpPr>
        <p:spPr>
          <a:xfrm>
            <a:off x="438912" y="3877056"/>
            <a:ext cx="128016" cy="1554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4098EC57-A902-330D-4691-562F2AE17DF8}"/>
              </a:ext>
            </a:extLst>
          </p:cNvPr>
          <p:cNvSpPr/>
          <p:nvPr/>
        </p:nvSpPr>
        <p:spPr>
          <a:xfrm>
            <a:off x="246888" y="4032504"/>
            <a:ext cx="50292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47CB4EA0-BF91-0B0D-40B1-3A6E812783F3}"/>
              </a:ext>
            </a:extLst>
          </p:cNvPr>
          <p:cNvSpPr/>
          <p:nvPr/>
        </p:nvSpPr>
        <p:spPr>
          <a:xfrm>
            <a:off x="246888" y="40325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F6084EC5-2F09-58B0-C7A3-6ED585F96550}"/>
              </a:ext>
            </a:extLst>
          </p:cNvPr>
          <p:cNvSpPr/>
          <p:nvPr/>
        </p:nvSpPr>
        <p:spPr>
          <a:xfrm>
            <a:off x="822960" y="403250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537E0F5-6E50-5DB7-0E2C-C4599E9DA878}"/>
              </a:ext>
            </a:extLst>
          </p:cNvPr>
          <p:cNvSpPr/>
          <p:nvPr/>
        </p:nvSpPr>
        <p:spPr>
          <a:xfrm>
            <a:off x="886968" y="405993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Decision-Making Agent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83F4FF0A-D0E5-EABD-D830-7ACD330A99BF}"/>
              </a:ext>
            </a:extLst>
          </p:cNvPr>
          <p:cNvSpPr/>
          <p:nvPr/>
        </p:nvSpPr>
        <p:spPr>
          <a:xfrm>
            <a:off x="886968" y="43342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Classify yield HIGH / MEDIUM / LOW → irrigation, fertiliser, harvest advisory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71D7D8CF-438B-5E65-FDC2-97E3BF6B2DD1}"/>
              </a:ext>
            </a:extLst>
          </p:cNvPr>
          <p:cNvSpPr/>
          <p:nvPr/>
        </p:nvSpPr>
        <p:spPr>
          <a:xfrm>
            <a:off x="438912" y="4690872"/>
            <a:ext cx="128016" cy="1554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CE70ECC8-2469-0A31-A978-59E07228B3B5}"/>
              </a:ext>
            </a:extLst>
          </p:cNvPr>
          <p:cNvSpPr/>
          <p:nvPr/>
        </p:nvSpPr>
        <p:spPr>
          <a:xfrm>
            <a:off x="246888" y="4846320"/>
            <a:ext cx="502920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B640522F-57A2-E0A9-5C36-60572530C896}"/>
              </a:ext>
            </a:extLst>
          </p:cNvPr>
          <p:cNvSpPr/>
          <p:nvPr/>
        </p:nvSpPr>
        <p:spPr>
          <a:xfrm>
            <a:off x="246888" y="48463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C685CD6A-2374-A383-04AC-161BCFB18F76}"/>
              </a:ext>
            </a:extLst>
          </p:cNvPr>
          <p:cNvSpPr/>
          <p:nvPr/>
        </p:nvSpPr>
        <p:spPr>
          <a:xfrm>
            <a:off x="822960" y="484632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F3B0A7DC-5335-2C85-4234-22C061472D4F}"/>
              </a:ext>
            </a:extLst>
          </p:cNvPr>
          <p:cNvSpPr/>
          <p:nvPr/>
        </p:nvSpPr>
        <p:spPr>
          <a:xfrm>
            <a:off x="886968" y="4873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Feedback Agent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6CB73457-93B7-2BDA-A9D1-CC3A82F9B7A2}"/>
              </a:ext>
            </a:extLst>
          </p:cNvPr>
          <p:cNvSpPr/>
          <p:nvPr/>
        </p:nvSpPr>
        <p:spPr>
          <a:xfrm>
            <a:off x="886968" y="51480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5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 MAE &amp; RMSE thresholds → trigger up to 5 retraining cycles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E66CDD84-47D4-3B47-3867-A5EB67A531F9}"/>
              </a:ext>
            </a:extLst>
          </p:cNvPr>
          <p:cNvSpPr/>
          <p:nvPr/>
        </p:nvSpPr>
        <p:spPr>
          <a:xfrm>
            <a:off x="6144768" y="1591056"/>
            <a:ext cx="2743200" cy="4069080"/>
          </a:xfrm>
          <a:prstGeom prst="rect">
            <a:avLst/>
          </a:prstGeom>
          <a:solidFill>
            <a:srgbClr val="2D6A4F"/>
          </a:solidFill>
          <a:ln w="25400">
            <a:solidFill>
              <a:srgbClr val="1B4332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6938F089-1039-3650-B499-5B9C99DF4904}"/>
              </a:ext>
            </a:extLst>
          </p:cNvPr>
          <p:cNvSpPr/>
          <p:nvPr/>
        </p:nvSpPr>
        <p:spPr>
          <a:xfrm>
            <a:off x="6190488" y="168249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E4C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Shared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B7E4C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Knowledge Base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9CE75282-2CE1-1006-3774-53EA0AECF226}"/>
              </a:ext>
            </a:extLst>
          </p:cNvPr>
          <p:cNvSpPr/>
          <p:nvPr/>
        </p:nvSpPr>
        <p:spPr>
          <a:xfrm>
            <a:off x="6281928" y="2414016"/>
            <a:ext cx="256032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812029D8-6904-F648-1BDB-958D23EE46F7}"/>
              </a:ext>
            </a:extLst>
          </p:cNvPr>
          <p:cNvSpPr/>
          <p:nvPr/>
        </p:nvSpPr>
        <p:spPr>
          <a:xfrm>
            <a:off x="6217920" y="2523744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data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Preprocessed features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 models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Feedback logs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Hyperparameter settings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33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64A1-B5A0-9541-E46F-C01FF3FD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192024"/>
            <a:ext cx="5486040" cy="712872"/>
          </a:xfrm>
        </p:spPr>
        <p:txBody>
          <a:bodyPr/>
          <a:lstStyle/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ADDFD0DF-9F16-4187-25B4-6A9536DB7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543452"/>
              </p:ext>
            </p:extLst>
          </p:nvPr>
        </p:nvGraphicFramePr>
        <p:xfrm>
          <a:off x="292608" y="1810512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921F8D-BF6D-B931-F2C4-4CAAE4785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34123"/>
              </p:ext>
            </p:extLst>
          </p:nvPr>
        </p:nvGraphicFramePr>
        <p:xfrm>
          <a:off x="4572000" y="1810512"/>
          <a:ext cx="4334256" cy="25328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43,665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(No Agent)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E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RF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E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E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E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7E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62,402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034E09D0-6F78-CA71-DD6B-C372E14FEA75}"/>
              </a:ext>
            </a:extLst>
          </p:cNvPr>
          <p:cNvSpPr/>
          <p:nvPr/>
        </p:nvSpPr>
        <p:spPr>
          <a:xfrm>
            <a:off x="292608" y="4498848"/>
            <a:ext cx="20116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F60507C-B177-30EE-C68E-C9AA23C91E56}"/>
              </a:ext>
            </a:extLst>
          </p:cNvPr>
          <p:cNvSpPr/>
          <p:nvPr/>
        </p:nvSpPr>
        <p:spPr>
          <a:xfrm>
            <a:off x="292608" y="4572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0.986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251C7C-B596-7174-1F90-A03148406CD0}"/>
              </a:ext>
            </a:extLst>
          </p:cNvPr>
          <p:cNvSpPr/>
          <p:nvPr/>
        </p:nvSpPr>
        <p:spPr>
          <a:xfrm>
            <a:off x="292608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2421368-E9E7-47AB-1765-2B17AC47871F}"/>
              </a:ext>
            </a:extLst>
          </p:cNvPr>
          <p:cNvSpPr/>
          <p:nvPr/>
        </p:nvSpPr>
        <p:spPr>
          <a:xfrm>
            <a:off x="2468880" y="4498848"/>
            <a:ext cx="20116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ADA0CC-803E-24E4-06DA-962F864C675E}"/>
              </a:ext>
            </a:extLst>
          </p:cNvPr>
          <p:cNvSpPr/>
          <p:nvPr/>
        </p:nvSpPr>
        <p:spPr>
          <a:xfrm>
            <a:off x="2468880" y="4572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4,078</a:t>
            </a:r>
            <a:endParaRPr lang="en-US" sz="2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AA1C210-739C-0AAA-F84B-231A0BBE9794}"/>
              </a:ext>
            </a:extLst>
          </p:cNvPr>
          <p:cNvSpPr/>
          <p:nvPr/>
        </p:nvSpPr>
        <p:spPr>
          <a:xfrm>
            <a:off x="2468880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(hg/ha)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B27433-45F2-145C-5B04-8E42C3CA14DB}"/>
              </a:ext>
            </a:extLst>
          </p:cNvPr>
          <p:cNvSpPr/>
          <p:nvPr/>
        </p:nvSpPr>
        <p:spPr>
          <a:xfrm>
            <a:off x="4645152" y="4498848"/>
            <a:ext cx="20116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50637DA-A720-1E33-C7E3-731DF1BFD50F}"/>
              </a:ext>
            </a:extLst>
          </p:cNvPr>
          <p:cNvSpPr/>
          <p:nvPr/>
        </p:nvSpPr>
        <p:spPr>
          <a:xfrm>
            <a:off x="4645152" y="4572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84.6%</a:t>
            </a:r>
            <a:endParaRPr lang="en-US" sz="2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7037935-D449-70E4-FAEE-F0951CEF4FDA}"/>
              </a:ext>
            </a:extLst>
          </p:cNvPr>
          <p:cNvSpPr/>
          <p:nvPr/>
        </p:nvSpPr>
        <p:spPr>
          <a:xfrm>
            <a:off x="4645152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6DA68B2-C790-87B9-DA1A-3C67411EC7C8}"/>
              </a:ext>
            </a:extLst>
          </p:cNvPr>
          <p:cNvSpPr/>
          <p:nvPr/>
        </p:nvSpPr>
        <p:spPr>
          <a:xfrm>
            <a:off x="6821424" y="4498848"/>
            <a:ext cx="2011680" cy="1234440"/>
          </a:xfrm>
          <a:prstGeom prst="rect">
            <a:avLst/>
          </a:prstGeom>
          <a:solidFill>
            <a:srgbClr val="915D27"/>
          </a:solidFill>
          <a:ln w="12700">
            <a:solidFill>
              <a:srgbClr val="915D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E5EDACE-BD15-592E-E713-87AB21424E54}"/>
              </a:ext>
            </a:extLst>
          </p:cNvPr>
          <p:cNvSpPr/>
          <p:nvPr/>
        </p:nvSpPr>
        <p:spPr>
          <a:xfrm>
            <a:off x="6821424" y="4572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2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8B0A358-9461-376F-5F26-90A3308C7250}"/>
              </a:ext>
            </a:extLst>
          </p:cNvPr>
          <p:cNvSpPr/>
          <p:nvPr/>
        </p:nvSpPr>
        <p:spPr>
          <a:xfrm>
            <a:off x="6821424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Cycles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4814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FC66-9F40-9470-9743-6AEE05EB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37" y="179268"/>
            <a:ext cx="5486040" cy="914040"/>
          </a:xfrm>
        </p:spPr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Agricultural Advisory System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01EBE378-B5AC-2E48-4239-53C6FEE393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3673063"/>
              </p:ext>
            </p:extLst>
          </p:nvPr>
        </p:nvGraphicFramePr>
        <p:xfrm>
          <a:off x="164237" y="1507680"/>
          <a:ext cx="3932327" cy="343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hape 3">
            <a:extLst>
              <a:ext uri="{FF2B5EF4-FFF2-40B4-BE49-F238E27FC236}">
                <a16:creationId xmlns:a16="http://schemas.microsoft.com/office/drawing/2014/main" id="{0EB68B77-E040-DE85-8625-4B046B65E3CB}"/>
              </a:ext>
            </a:extLst>
          </p:cNvPr>
          <p:cNvSpPr/>
          <p:nvPr/>
        </p:nvSpPr>
        <p:spPr>
          <a:xfrm>
            <a:off x="4325060" y="1645560"/>
            <a:ext cx="1005944" cy="1143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FAFD16-0E3B-8B92-1EE6-3A3237DE4B27}"/>
              </a:ext>
            </a:extLst>
          </p:cNvPr>
          <p:cNvSpPr/>
          <p:nvPr/>
        </p:nvSpPr>
        <p:spPr>
          <a:xfrm>
            <a:off x="4325060" y="1716240"/>
            <a:ext cx="1005944" cy="52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E4C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HIGH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B5B69F-A514-4AF4-5CCE-67941BCE88D0}"/>
              </a:ext>
            </a:extLst>
          </p:cNvPr>
          <p:cNvSpPr/>
          <p:nvPr/>
        </p:nvSpPr>
        <p:spPr>
          <a:xfrm>
            <a:off x="4325060" y="2221080"/>
            <a:ext cx="1005944" cy="4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E4C7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58.3%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C720763-6D74-38DF-487E-05675A9C394D}"/>
              </a:ext>
            </a:extLst>
          </p:cNvPr>
          <p:cNvSpPr/>
          <p:nvPr/>
        </p:nvSpPr>
        <p:spPr>
          <a:xfrm>
            <a:off x="5376364" y="1645560"/>
            <a:ext cx="3475080" cy="114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4D4956-6DFA-5E37-7E7B-16978A533C45}"/>
              </a:ext>
            </a:extLst>
          </p:cNvPr>
          <p:cNvSpPr/>
          <p:nvPr/>
        </p:nvSpPr>
        <p:spPr>
          <a:xfrm>
            <a:off x="5467823" y="1734984"/>
            <a:ext cx="3292181" cy="28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 30,000 hg/ha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ACF21E-30B9-AB4E-9558-94A1D80D154A}"/>
              </a:ext>
            </a:extLst>
          </p:cNvPr>
          <p:cNvSpPr/>
          <p:nvPr/>
        </p:nvSpPr>
        <p:spPr>
          <a:xfrm>
            <a:off x="5467823" y="2011464"/>
            <a:ext cx="3292181" cy="686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Optimise fertiliser | Maintain irrigation | Schedule peak harvest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520917E-376C-D28E-B1AB-C27D998F20EA}"/>
              </a:ext>
            </a:extLst>
          </p:cNvPr>
          <p:cNvSpPr/>
          <p:nvPr/>
        </p:nvSpPr>
        <p:spPr>
          <a:xfrm>
            <a:off x="4325060" y="2944008"/>
            <a:ext cx="1005944" cy="1143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F2DDB3-5272-C5D3-B8DB-F07A4838680E}"/>
              </a:ext>
            </a:extLst>
          </p:cNvPr>
          <p:cNvSpPr/>
          <p:nvPr/>
        </p:nvSpPr>
        <p:spPr>
          <a:xfrm>
            <a:off x="4325060" y="3014688"/>
            <a:ext cx="1005944" cy="52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EDD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MEDIUM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E6049E2-E560-33AB-A526-B47ACD5398B6}"/>
              </a:ext>
            </a:extLst>
          </p:cNvPr>
          <p:cNvSpPr/>
          <p:nvPr/>
        </p:nvSpPr>
        <p:spPr>
          <a:xfrm>
            <a:off x="4325060" y="3519528"/>
            <a:ext cx="1005944" cy="4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EDD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26.4%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82D4617-9055-E6BA-93A4-71819B562F07}"/>
              </a:ext>
            </a:extLst>
          </p:cNvPr>
          <p:cNvSpPr/>
          <p:nvPr/>
        </p:nvSpPr>
        <p:spPr>
          <a:xfrm>
            <a:off x="5376364" y="2944008"/>
            <a:ext cx="3475080" cy="114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2AAB62-94FB-DCAB-5ABE-0110217D1C35}"/>
              </a:ext>
            </a:extLst>
          </p:cNvPr>
          <p:cNvSpPr/>
          <p:nvPr/>
        </p:nvSpPr>
        <p:spPr>
          <a:xfrm>
            <a:off x="5467823" y="3033432"/>
            <a:ext cx="3292181" cy="28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15,000–29,999 hg/ha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EE7D9FA-B276-0866-B363-68DADAABF5BE}"/>
              </a:ext>
            </a:extLst>
          </p:cNvPr>
          <p:cNvSpPr/>
          <p:nvPr/>
        </p:nvSpPr>
        <p:spPr>
          <a:xfrm>
            <a:off x="5467823" y="3309912"/>
            <a:ext cx="3292181" cy="686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Balanced NPK | Monitor soil moisture | Target early harvest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B4D94DC-6066-AC3E-BFCE-709AA2738A30}"/>
              </a:ext>
            </a:extLst>
          </p:cNvPr>
          <p:cNvSpPr/>
          <p:nvPr/>
        </p:nvSpPr>
        <p:spPr>
          <a:xfrm>
            <a:off x="4325060" y="4242456"/>
            <a:ext cx="1005944" cy="1143360"/>
          </a:xfrm>
          <a:prstGeom prst="rect">
            <a:avLst/>
          </a:prstGeom>
          <a:solidFill>
            <a:srgbClr val="915D27"/>
          </a:solidFill>
          <a:ln w="12700">
            <a:solidFill>
              <a:srgbClr val="915D27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A290702-B581-84D9-216C-85AB18C89809}"/>
              </a:ext>
            </a:extLst>
          </p:cNvPr>
          <p:cNvSpPr/>
          <p:nvPr/>
        </p:nvSpPr>
        <p:spPr>
          <a:xfrm>
            <a:off x="4325060" y="4313136"/>
            <a:ext cx="1005944" cy="52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E8C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2D8ABD9-0AA2-EBD8-331B-AFC188AA86E5}"/>
              </a:ext>
            </a:extLst>
          </p:cNvPr>
          <p:cNvSpPr/>
          <p:nvPr/>
        </p:nvSpPr>
        <p:spPr>
          <a:xfrm>
            <a:off x="4325060" y="4817976"/>
            <a:ext cx="1005944" cy="4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E8C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15.2%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23A3883-43A5-1C60-332D-FF83FE8395EA}"/>
              </a:ext>
            </a:extLst>
          </p:cNvPr>
          <p:cNvSpPr/>
          <p:nvPr/>
        </p:nvSpPr>
        <p:spPr>
          <a:xfrm>
            <a:off x="5376364" y="4242456"/>
            <a:ext cx="3475080" cy="114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B0916F8-BF90-1D02-4F17-7615310B9530}"/>
              </a:ext>
            </a:extLst>
          </p:cNvPr>
          <p:cNvSpPr/>
          <p:nvPr/>
        </p:nvSpPr>
        <p:spPr>
          <a:xfrm>
            <a:off x="5467823" y="4331880"/>
            <a:ext cx="3292181" cy="28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15D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&lt; 15,000 hg/ha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B642FB2-8E0D-A356-2ABF-A37D50A12241}"/>
              </a:ext>
            </a:extLst>
          </p:cNvPr>
          <p:cNvSpPr/>
          <p:nvPr/>
        </p:nvSpPr>
        <p:spPr>
          <a:xfrm>
            <a:off x="5467823" y="4608360"/>
            <a:ext cx="3292181" cy="686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Intensive irrigation | Increase nitrogen | Early intervention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82C9BF0-F56B-BB6D-5FE8-E381FC8EB903}"/>
              </a:ext>
            </a:extLst>
          </p:cNvPr>
          <p:cNvSpPr/>
          <p:nvPr/>
        </p:nvSpPr>
        <p:spPr>
          <a:xfrm>
            <a:off x="4324695" y="5520984"/>
            <a:ext cx="4526749" cy="276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High-confidence advisory rate: 84.8% (HIGH + MEDIUM)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65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55A7-0161-CD4A-F3F7-0678B4EE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155448"/>
            <a:ext cx="5486040" cy="914040"/>
          </a:xfrm>
        </p:spPr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Limitations &amp; Future Work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58733E6-45B0-8A8F-BF30-92D86E3EDC7E}"/>
              </a:ext>
            </a:extLst>
          </p:cNvPr>
          <p:cNvSpPr/>
          <p:nvPr/>
        </p:nvSpPr>
        <p:spPr>
          <a:xfrm>
            <a:off x="274320" y="1682496"/>
            <a:ext cx="3931920" cy="33832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8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48EB0912-DF6B-B30C-1929-71498FEB57D2}"/>
              </a:ext>
            </a:extLst>
          </p:cNvPr>
          <p:cNvSpPr/>
          <p:nvPr/>
        </p:nvSpPr>
        <p:spPr>
          <a:xfrm>
            <a:off x="274320" y="1682496"/>
            <a:ext cx="3931920" cy="457200"/>
          </a:xfrm>
          <a:prstGeom prst="rect">
            <a:avLst/>
          </a:prstGeom>
          <a:solidFill>
            <a:srgbClr val="915D27"/>
          </a:solidFill>
          <a:ln w="12700">
            <a:solidFill>
              <a:srgbClr val="915D27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B0D7997-B127-0265-2F8F-0E65AA9C746C}"/>
              </a:ext>
            </a:extLst>
          </p:cNvPr>
          <p:cNvSpPr/>
          <p:nvPr/>
        </p:nvSpPr>
        <p:spPr>
          <a:xfrm>
            <a:off x="320040" y="16824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Current Limitations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7427CBF-0EF1-1A15-6FE3-7D0201E4942A}"/>
              </a:ext>
            </a:extLst>
          </p:cNvPr>
          <p:cNvSpPr/>
          <p:nvPr/>
        </p:nvSpPr>
        <p:spPr>
          <a:xfrm>
            <a:off x="365760" y="2212848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LinearSVR underperformed due to high-dimensional one-hot encoding and large target range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Feedback Agent thresholds are manually set; auto-calibration needed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No satellite imagery (NDVI, EVI) or soil type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Static historical dataset — no real-time IoT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C9350D3C-9901-56FB-1A11-4BD25024B5BB}"/>
              </a:ext>
            </a:extLst>
          </p:cNvPr>
          <p:cNvSpPr/>
          <p:nvPr/>
        </p:nvSpPr>
        <p:spPr>
          <a:xfrm>
            <a:off x="4572000" y="1682496"/>
            <a:ext cx="4297680" cy="3383280"/>
          </a:xfrm>
          <a:prstGeom prst="rect">
            <a:avLst/>
          </a:prstGeom>
          <a:solidFill>
            <a:srgbClr val="F0FAF4"/>
          </a:solidFill>
          <a:ln w="12700">
            <a:solidFill>
              <a:srgbClr val="C5DF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7928EE5E-C72B-5516-42DC-A162849386BD}"/>
              </a:ext>
            </a:extLst>
          </p:cNvPr>
          <p:cNvSpPr/>
          <p:nvPr/>
        </p:nvSpPr>
        <p:spPr>
          <a:xfrm>
            <a:off x="4572000" y="1682496"/>
            <a:ext cx="42976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DEF2DA5-D72A-11E9-08D0-2A79C3F72D19}"/>
              </a:ext>
            </a:extLst>
          </p:cNvPr>
          <p:cNvSpPr/>
          <p:nvPr/>
        </p:nvSpPr>
        <p:spPr>
          <a:xfrm>
            <a:off x="4617720" y="16824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Future Extensions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92FE7A3-3C67-4463-A940-CF53EE284647}"/>
              </a:ext>
            </a:extLst>
          </p:cNvPr>
          <p:cNvSpPr/>
          <p:nvPr/>
        </p:nvSpPr>
        <p:spPr>
          <a:xfrm>
            <a:off x="4645152" y="2212848"/>
            <a:ext cx="41148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🛰  Satellite imagery integration (NDVI, EVI)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Anomaly Detection Agent for climate outlier years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  LSTM-based Temporal Forecasting Agent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🌐  Web-based farmer-facing advisory dashboard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🔐  Federated learning for privacy-preserving agriculture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8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130D-3D1B-DDF3-66DF-35560B7A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9504"/>
            <a:ext cx="5486040" cy="91404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9AE50AD-7E3A-B894-F2D9-B2460DF4F3FE}"/>
              </a:ext>
            </a:extLst>
          </p:cNvPr>
          <p:cNvSpPr/>
          <p:nvPr/>
        </p:nvSpPr>
        <p:spPr>
          <a:xfrm>
            <a:off x="320040" y="131673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23141E9-3274-8BAF-9F61-30C52FC9F946}"/>
              </a:ext>
            </a:extLst>
          </p:cNvPr>
          <p:cNvSpPr/>
          <p:nvPr/>
        </p:nvSpPr>
        <p:spPr>
          <a:xfrm>
            <a:off x="658368" y="128930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a novel 5-agent MAS framework for end-to-end crop yield prediction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D0968AF3-B227-B419-44C1-A87B16D1CDC4}"/>
              </a:ext>
            </a:extLst>
          </p:cNvPr>
          <p:cNvSpPr/>
          <p:nvPr/>
        </p:nvSpPr>
        <p:spPr>
          <a:xfrm>
            <a:off x="320040" y="1938528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4F0AE42-4D86-7BBF-0440-F17D6E13264D}"/>
              </a:ext>
            </a:extLst>
          </p:cNvPr>
          <p:cNvSpPr/>
          <p:nvPr/>
        </p:nvSpPr>
        <p:spPr>
          <a:xfrm>
            <a:off x="658368" y="19110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Evaluated on 25,932 FAO records across 101 countries and 10 crop types (1990–2013)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35331AF9-94D8-8127-0458-849F0EDFB702}"/>
              </a:ext>
            </a:extLst>
          </p:cNvPr>
          <p:cNvSpPr/>
          <p:nvPr/>
        </p:nvSpPr>
        <p:spPr>
          <a:xfrm>
            <a:off x="320040" y="2560320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64FD4BF-292A-9879-E37D-A8F3138229E6}"/>
              </a:ext>
            </a:extLst>
          </p:cNvPr>
          <p:cNvSpPr/>
          <p:nvPr/>
        </p:nvSpPr>
        <p:spPr>
          <a:xfrm>
            <a:off x="658368" y="252374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Agent-Based Random Forest achieved R² = 0.986 and 84.6% accuracy (±15% tolerance)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07AE300-D456-8316-8CFD-3D19C1A9B232}"/>
              </a:ext>
            </a:extLst>
          </p:cNvPr>
          <p:cNvSpPr/>
          <p:nvPr/>
        </p:nvSpPr>
        <p:spPr>
          <a:xfrm>
            <a:off x="320040" y="3182112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DCD39779-394C-6CB8-0300-D7D182BAF0D8}"/>
              </a:ext>
            </a:extLst>
          </p:cNvPr>
          <p:cNvSpPr/>
          <p:nvPr/>
        </p:nvSpPr>
        <p:spPr>
          <a:xfrm>
            <a:off x="658368" y="3154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Outperformed all related benchmarks — highest R² in the comparison table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0B645593-5FFE-86C3-DE52-A8D979CBFCD6}"/>
              </a:ext>
            </a:extLst>
          </p:cNvPr>
          <p:cNvSpPr/>
          <p:nvPr/>
        </p:nvSpPr>
        <p:spPr>
          <a:xfrm>
            <a:off x="320040" y="3803904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0FB05BB7-52FA-74FA-9EB4-0B03F76338F3}"/>
              </a:ext>
            </a:extLst>
          </p:cNvPr>
          <p:cNvSpPr/>
          <p:nvPr/>
        </p:nvSpPr>
        <p:spPr>
          <a:xfrm>
            <a:off x="658368" y="37764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Feedback Agent enabled adaptive retraining with automated hyperparameter escalation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3726CD05-6337-694E-8681-5161DDC08B11}"/>
              </a:ext>
            </a:extLst>
          </p:cNvPr>
          <p:cNvSpPr/>
          <p:nvPr/>
        </p:nvSpPr>
        <p:spPr>
          <a:xfrm>
            <a:off x="320040" y="442569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D7BA7BA-80D0-90CA-9194-AAF4F284C380}"/>
              </a:ext>
            </a:extLst>
          </p:cNvPr>
          <p:cNvSpPr/>
          <p:nvPr/>
        </p:nvSpPr>
        <p:spPr>
          <a:xfrm>
            <a:off x="658368" y="439826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Generated actionable irrigation, fertilisation, and harvest advisories with 84.8% high-confidence rate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647F5971-01CE-125F-C9AC-628DF3FC9958}"/>
              </a:ext>
            </a:extLst>
          </p:cNvPr>
          <p:cNvSpPr/>
          <p:nvPr/>
        </p:nvSpPr>
        <p:spPr>
          <a:xfrm>
            <a:off x="0" y="4992624"/>
            <a:ext cx="914400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64432AA0-677F-9D9A-961C-9D9C6EF1B85B}"/>
              </a:ext>
            </a:extLst>
          </p:cNvPr>
          <p:cNvSpPr/>
          <p:nvPr/>
        </p:nvSpPr>
        <p:spPr>
          <a:xfrm>
            <a:off x="274320" y="501091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"The multi-agent approach demonstrates how modular AI systems enhance accuracy, adaptability and interpretability in agricultural decision systems."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17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34718</TotalTime>
  <Words>778</Words>
  <Application>Microsoft Office PowerPoint</Application>
  <PresentationFormat>On-screen Show (4:3)</PresentationFormat>
  <Paragraphs>199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 </vt:lpstr>
      <vt:lpstr>Dataset Description </vt:lpstr>
      <vt:lpstr>Proposed Multi-Agent Framework </vt:lpstr>
      <vt:lpstr>Experimental Results </vt:lpstr>
      <vt:lpstr>Agricultural Advisory System </vt:lpstr>
      <vt:lpstr>Limitations &amp; Future Work 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dhruv datta</cp:lastModifiedBy>
  <cp:revision>2305</cp:revision>
  <dcterms:created xsi:type="dcterms:W3CDTF">2010-04-09T07:36:15Z</dcterms:created>
  <dcterms:modified xsi:type="dcterms:W3CDTF">2026-05-02T13:47:41Z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